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9"/>
  </p:notesMasterIdLst>
  <p:sldIdLst>
    <p:sldId id="258" r:id="rId2"/>
    <p:sldId id="259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1" r:id="rId13"/>
    <p:sldId id="270" r:id="rId14"/>
    <p:sldId id="272" r:id="rId15"/>
    <p:sldId id="273" r:id="rId16"/>
    <p:sldId id="274" r:id="rId17"/>
    <p:sldId id="275" r:id="rId18"/>
    <p:sldId id="284" r:id="rId19"/>
    <p:sldId id="28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660"/>
  </p:normalViewPr>
  <p:slideViewPr>
    <p:cSldViewPr snapToGrid="0">
      <p:cViewPr varScale="1">
        <p:scale>
          <a:sx n="75" d="100"/>
          <a:sy n="75" d="100"/>
        </p:scale>
        <p:origin x="49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20B510-B1E6-4A66-ACE5-86E018D174EA}" type="datetimeFigureOut">
              <a:rPr lang="en-UG" smtClean="0"/>
              <a:t>07/05/2026</a:t>
            </a:fld>
            <a:endParaRPr lang="en-U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02F526-84D8-47B2-8563-3CC412A3C45B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686796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02F526-84D8-47B2-8563-3CC412A3C45B}" type="slidenum">
              <a:rPr lang="en-UG" smtClean="0"/>
              <a:t>1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036101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CA50E-107C-4446-8B11-CA414582D8B9}" type="datetimeFigureOut">
              <a:rPr lang="en-UG" smtClean="0"/>
              <a:t>05/05/2026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2E23D-22DA-4B47-BB3D-A9926DBF6360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543880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CA50E-107C-4446-8B11-CA414582D8B9}" type="datetimeFigureOut">
              <a:rPr lang="en-UG" smtClean="0"/>
              <a:t>05/05/2026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2E23D-22DA-4B47-BB3D-A9926DBF6360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092907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CA50E-107C-4446-8B11-CA414582D8B9}" type="datetimeFigureOut">
              <a:rPr lang="en-UG" smtClean="0"/>
              <a:t>05/05/2026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2E23D-22DA-4B47-BB3D-A9926DBF6360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780555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CA50E-107C-4446-8B11-CA414582D8B9}" type="datetimeFigureOut">
              <a:rPr lang="en-UG" smtClean="0"/>
              <a:t>05/05/2026</a:t>
            </a:fld>
            <a:endParaRPr lang="en-U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2E23D-22DA-4B47-BB3D-A9926DBF6360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248587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CA50E-107C-4446-8B11-CA414582D8B9}" type="datetimeFigureOut">
              <a:rPr lang="en-UG" smtClean="0"/>
              <a:t>05/05/2026</a:t>
            </a:fld>
            <a:endParaRPr lang="en-U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2E23D-22DA-4B47-BB3D-A9926DBF6360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682177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CA50E-107C-4446-8B11-CA414582D8B9}" type="datetimeFigureOut">
              <a:rPr lang="en-UG" smtClean="0"/>
              <a:t>05/05/2026</a:t>
            </a:fld>
            <a:endParaRPr lang="en-UG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2E23D-22DA-4B47-BB3D-A9926DBF6360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12331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CA50E-107C-4446-8B11-CA414582D8B9}" type="datetimeFigureOut">
              <a:rPr lang="en-UG" smtClean="0"/>
              <a:t>05/05/2026</a:t>
            </a:fld>
            <a:endParaRPr lang="en-UG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2E23D-22DA-4B47-BB3D-A9926DBF6360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746544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CA50E-107C-4446-8B11-CA414582D8B9}" type="datetimeFigureOut">
              <a:rPr lang="en-UG" smtClean="0"/>
              <a:t>05/05/2026</a:t>
            </a:fld>
            <a:endParaRPr lang="en-UG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2E23D-22DA-4B47-BB3D-A9926DBF6360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089788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CA50E-107C-4446-8B11-CA414582D8B9}" type="datetimeFigureOut">
              <a:rPr lang="en-UG" smtClean="0"/>
              <a:t>05/05/2026</a:t>
            </a:fld>
            <a:endParaRPr lang="en-U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2E23D-22DA-4B47-BB3D-A9926DBF6360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926645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CA50E-107C-4446-8B11-CA414582D8B9}" type="datetimeFigureOut">
              <a:rPr lang="en-UG" smtClean="0"/>
              <a:t>05/05/2026</a:t>
            </a:fld>
            <a:endParaRPr lang="en-U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2E23D-22DA-4B47-BB3D-A9926DBF6360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2906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CA50E-107C-4446-8B11-CA414582D8B9}" type="datetimeFigureOut">
              <a:rPr lang="en-UG" smtClean="0"/>
              <a:t>05/05/2026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2E23D-22DA-4B47-BB3D-A9926DBF6360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41481674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CA50E-107C-4446-8B11-CA414582D8B9}" type="datetimeFigureOut">
              <a:rPr lang="en-UG" smtClean="0"/>
              <a:t>05/05/2026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2E23D-22DA-4B47-BB3D-A9926DBF6360}" type="slidenum">
              <a:rPr lang="en-UG" smtClean="0"/>
              <a:t>‹#›</a:t>
            </a:fld>
            <a:endParaRPr lang="en-UG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985819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CA50E-107C-4446-8B11-CA414582D8B9}" type="datetimeFigureOut">
              <a:rPr lang="en-UG" smtClean="0"/>
              <a:t>05/05/2026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2E23D-22DA-4B47-BB3D-A9926DBF6360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4049774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CA50E-107C-4446-8B11-CA414582D8B9}" type="datetimeFigureOut">
              <a:rPr lang="en-UG" smtClean="0"/>
              <a:t>05/05/2026</a:t>
            </a:fld>
            <a:endParaRPr lang="en-U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2E23D-22DA-4B47-BB3D-A9926DBF6360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41876028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CA50E-107C-4446-8B11-CA414582D8B9}" type="datetimeFigureOut">
              <a:rPr lang="en-UG" smtClean="0"/>
              <a:t>05/05/2026</a:t>
            </a:fld>
            <a:endParaRPr lang="en-U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2E23D-22DA-4B47-BB3D-A9926DBF6360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5980576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CA50E-107C-4446-8B11-CA414582D8B9}" type="datetimeFigureOut">
              <a:rPr lang="en-UG" smtClean="0"/>
              <a:t>05/05/2026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2E23D-22DA-4B47-BB3D-A9926DBF6360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9389855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CA50E-107C-4446-8B11-CA414582D8B9}" type="datetimeFigureOut">
              <a:rPr lang="en-UG" smtClean="0"/>
              <a:t>05/05/2026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2E23D-22DA-4B47-BB3D-A9926DBF6360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8053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53CA50E-107C-4446-8B11-CA414582D8B9}" type="datetimeFigureOut">
              <a:rPr lang="en-UG" smtClean="0"/>
              <a:t>05/05/2026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82E23D-22DA-4B47-BB3D-A9926DBF6360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6131373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1579D-4479-EA1E-EA59-3B3AB516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MBARARA UNIVERSITY OF SCIENCE AN D TECHNOLOGY </a:t>
            </a:r>
            <a:br>
              <a:rPr lang="en-US" dirty="0"/>
            </a:br>
            <a:r>
              <a:rPr lang="en-US" dirty="0"/>
              <a:t>FACULY OF COMPUTING AND IN FORMATICS .</a:t>
            </a:r>
            <a:br>
              <a:rPr lang="en-US" dirty="0"/>
            </a:br>
            <a:r>
              <a:rPr lang="en-US" dirty="0"/>
              <a:t>BARCHELORS OF SCIENCE IN COMPUTERF SCIENCE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13C4C-FA1F-45EA-8275-C37F71DC0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35517"/>
            <a:ext cx="10515600" cy="1841446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/>
              <a:t>PROJECT NAME : BAKERY DATABASE  MANAGEMENT SYSTEM.</a:t>
            </a:r>
          </a:p>
          <a:p>
            <a:r>
              <a:rPr lang="en-US" sz="2000" dirty="0"/>
              <a:t>PERSONAL AREA OF INTEREST:  EMPLOYEE DATABSE SYSTEM .</a:t>
            </a:r>
          </a:p>
          <a:p>
            <a:r>
              <a:rPr lang="en-US" sz="2000" dirty="0"/>
              <a:t>LECTURER : KENETH BAGUMA</a:t>
            </a:r>
          </a:p>
          <a:p>
            <a:r>
              <a:rPr lang="en-US" sz="1400" dirty="0"/>
              <a:t>NAME : AGENGO ANNE MARIE CASMIRO </a:t>
            </a:r>
          </a:p>
          <a:p>
            <a:r>
              <a:rPr lang="en-US" sz="2000" dirty="0"/>
              <a:t>YEAR 1 : SEMESTER 2 </a:t>
            </a:r>
            <a:endParaRPr lang="en-UG" sz="2000" dirty="0"/>
          </a:p>
        </p:txBody>
      </p:sp>
    </p:spTree>
    <p:extLst>
      <p:ext uri="{BB962C8B-B14F-4D97-AF65-F5344CB8AC3E}">
        <p14:creationId xmlns:p14="http://schemas.microsoft.com/office/powerpoint/2010/main" val="1050745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AE48D-5E40-4DF4-44E5-421D0EC29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BAKERY  DATABASE SYSTEM</a:t>
            </a:r>
            <a:br>
              <a:rPr lang="en-US" dirty="0"/>
            </a:br>
            <a:r>
              <a:rPr lang="en-US" dirty="0"/>
              <a:t>TABLE OF CONTENT.</a:t>
            </a:r>
            <a:br>
              <a:rPr lang="en-US" dirty="0"/>
            </a:b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3ADFF-6364-E4D0-2010-4ECAECC7A9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248776"/>
            <a:ext cx="5181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1. Executive Summary</a:t>
            </a:r>
          </a:p>
          <a:p>
            <a:r>
              <a:rPr lang="en-US" dirty="0"/>
              <a:t>2. Database Project</a:t>
            </a:r>
          </a:p>
          <a:p>
            <a:r>
              <a:rPr lang="en-US" dirty="0"/>
              <a:t>2.1. Area of interest</a:t>
            </a:r>
          </a:p>
          <a:p>
            <a:r>
              <a:rPr lang="en-US" dirty="0"/>
              <a:t>2.2. Possible Database systems </a:t>
            </a:r>
          </a:p>
          <a:p>
            <a:r>
              <a:rPr lang="en-US" dirty="0"/>
              <a:t>2.3 . Reason for the Area of interest</a:t>
            </a:r>
          </a:p>
          <a:p>
            <a:r>
              <a:rPr lang="en-US" dirty="0"/>
              <a:t>3. Business case </a:t>
            </a:r>
          </a:p>
          <a:p>
            <a:r>
              <a:rPr lang="en-US" dirty="0"/>
              <a:t>3.1. Application Domain </a:t>
            </a:r>
          </a:p>
          <a:p>
            <a:r>
              <a:rPr lang="en-US" dirty="0"/>
              <a:t>3.2 . Analysis of Benefits</a:t>
            </a:r>
          </a:p>
          <a:p>
            <a:r>
              <a:rPr lang="en-US" dirty="0"/>
              <a:t>3.3. Analysis of costs</a:t>
            </a:r>
          </a:p>
          <a:p>
            <a:r>
              <a:rPr lang="en-US" dirty="0"/>
              <a:t>3.4 . User issues</a:t>
            </a:r>
          </a:p>
          <a:p>
            <a:r>
              <a:rPr lang="en-US" dirty="0"/>
              <a:t>3.5. Risk Assessment </a:t>
            </a:r>
          </a:p>
          <a:p>
            <a:r>
              <a:rPr lang="en-US" dirty="0"/>
              <a:t>3.6. Limitations</a:t>
            </a:r>
          </a:p>
          <a:p>
            <a:r>
              <a:rPr lang="en-US" dirty="0"/>
              <a:t>4.Databse Design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16466D-0F9D-7CC9-7771-5F85BE6E77A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4.1.List of entities </a:t>
            </a:r>
          </a:p>
          <a:p>
            <a:r>
              <a:rPr lang="en-US" dirty="0"/>
              <a:t>4.2. List of entities and attributes</a:t>
            </a:r>
          </a:p>
          <a:p>
            <a:r>
              <a:rPr lang="en-US" dirty="0"/>
              <a:t>4.3.Enity of relationships</a:t>
            </a:r>
          </a:p>
          <a:p>
            <a:r>
              <a:rPr lang="en-US" dirty="0"/>
              <a:t>4.4. Add multiplicities to 4.3</a:t>
            </a:r>
          </a:p>
          <a:p>
            <a:r>
              <a:rPr lang="en-US" dirty="0"/>
              <a:t>4.5. User interface</a:t>
            </a:r>
          </a:p>
          <a:p>
            <a:r>
              <a:rPr lang="en-US" dirty="0"/>
              <a:t>5. Physical Design </a:t>
            </a:r>
          </a:p>
          <a:p>
            <a:r>
              <a:rPr lang="en-US" dirty="0"/>
              <a:t>5.1. Database Schema</a:t>
            </a:r>
          </a:p>
          <a:p>
            <a:r>
              <a:rPr lang="en-US" dirty="0"/>
              <a:t>5.2. Description of queries and reports </a:t>
            </a:r>
          </a:p>
          <a:p>
            <a:r>
              <a:rPr lang="en-US" dirty="0"/>
              <a:t>6. Implementing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958565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33C24-2195-3BBF-9230-62FC0B8F4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Summary 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65150-E6AF-03B1-7965-A71B973522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This project details the implementation of a  database management system for a Bakery . This system enables us to handle different databases involved in bakery database management system . It ensures efficient and effective day to day running in a bakery such orders, or transactions.</a:t>
            </a:r>
          </a:p>
          <a:p>
            <a:r>
              <a:rPr lang="en-US" dirty="0"/>
              <a:t>The report outlines the business case including the application domain, benefits, costs ,user issues , analysis, risks and limitations. More so, it shows designs including logical and physical designs. Logical designs  include entities , attributes, relationships, and entity relationship (ERD). The physical design shows the database schema and sample queries.</a:t>
            </a:r>
          </a:p>
          <a:p>
            <a:r>
              <a:rPr lang="en-US" dirty="0"/>
              <a:t>Finally, the report showcases the system’s implementation in MSQL, including screenshots, table descriptions and sample queries.</a:t>
            </a:r>
          </a:p>
          <a:p>
            <a:endParaRPr lang="en-US" dirty="0"/>
          </a:p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3575161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D90C1-1A31-0800-428F-97BA2B139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Database Project is for a bakery </a:t>
            </a:r>
            <a:br>
              <a:rPr lang="en-US" dirty="0"/>
            </a:br>
            <a:r>
              <a:rPr lang="en-US" dirty="0"/>
              <a:t>Area of interest is Employee database system.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0A75F-866E-3B37-5637-44DA213BD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Possible database systems  ;</a:t>
            </a:r>
          </a:p>
          <a:p>
            <a:pPr lvl="1"/>
            <a:r>
              <a:rPr lang="en-US" dirty="0"/>
              <a:t>Supplies</a:t>
            </a:r>
          </a:p>
          <a:p>
            <a:pPr lvl="1"/>
            <a:r>
              <a:rPr lang="en-US" dirty="0"/>
              <a:t>Inventory</a:t>
            </a:r>
          </a:p>
          <a:p>
            <a:pPr lvl="1"/>
            <a:r>
              <a:rPr lang="en-US" dirty="0"/>
              <a:t>Customer</a:t>
            </a:r>
          </a:p>
          <a:p>
            <a:pPr lvl="1"/>
            <a:r>
              <a:rPr lang="en-US" dirty="0"/>
              <a:t>Orders</a:t>
            </a:r>
          </a:p>
          <a:p>
            <a:pPr lvl="1"/>
            <a:r>
              <a:rPr lang="en-US" dirty="0"/>
              <a:t>Employee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 chose an employee database to ensure that employees are paid on time  and to handle employee issues such as complaints of employees.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4178687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B2296-F767-4C15-FFEF-BD9C26C7E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Domain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D8ACF-B35A-3AC2-029E-B5C4C34BEE5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Analysis of Benefit </a:t>
            </a:r>
          </a:p>
          <a:p>
            <a:r>
              <a:rPr lang="en-US" dirty="0"/>
              <a:t>Tangible Benefits</a:t>
            </a:r>
          </a:p>
          <a:p>
            <a:pPr lvl="1"/>
            <a:r>
              <a:rPr lang="en-US" dirty="0"/>
              <a:t>It can reduce loss of information where paper  is used.</a:t>
            </a:r>
          </a:p>
          <a:p>
            <a:pPr lvl="1"/>
            <a:r>
              <a:rPr lang="en-US" dirty="0"/>
              <a:t>It can reduce wastage of raw materials  in such keeping track of deliveries.</a:t>
            </a:r>
          </a:p>
          <a:p>
            <a:pPr lvl="1"/>
            <a:r>
              <a:rPr lang="en-US" dirty="0"/>
              <a:t>The system  reduces on the number of employees since it does most of the work.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0A4EE9-ACD9-B6C2-C041-7FCB675751C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Intangible benefits </a:t>
            </a:r>
          </a:p>
          <a:p>
            <a:pPr lvl="1"/>
            <a:r>
              <a:rPr lang="en-US" dirty="0"/>
              <a:t>Enhanced customer </a:t>
            </a:r>
            <a:r>
              <a:rPr lang="en-US" dirty="0" err="1"/>
              <a:t>loyality</a:t>
            </a:r>
            <a:r>
              <a:rPr lang="en-US" dirty="0"/>
              <a:t>. This allows strong customer preferences enabling tailored service and </a:t>
            </a:r>
            <a:r>
              <a:rPr lang="en-US" dirty="0" err="1"/>
              <a:t>personalised</a:t>
            </a:r>
            <a:r>
              <a:rPr lang="en-US" dirty="0"/>
              <a:t> promotions.</a:t>
            </a:r>
          </a:p>
          <a:p>
            <a:pPr lvl="1"/>
            <a:r>
              <a:rPr lang="en-US" dirty="0"/>
              <a:t>Improved brand representation. This helps maintain high quality and standards and consistent product availability.</a:t>
            </a:r>
          </a:p>
          <a:p>
            <a:pPr lvl="1"/>
            <a:endParaRPr lang="en-US" dirty="0"/>
          </a:p>
          <a:p>
            <a:pPr lvl="1"/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176539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69CAB-5C9E-D5E2-9B3D-308D2167E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cost 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04306-CD63-DDC0-BA05-E347B83ABF3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Tangible cost</a:t>
            </a:r>
          </a:p>
          <a:p>
            <a:pPr lvl="2"/>
            <a:r>
              <a:rPr lang="en-US" dirty="0"/>
              <a:t>Acquisition costs . There are expenses when acquiring assets for a bakery system such vehicles , premises.</a:t>
            </a:r>
          </a:p>
          <a:p>
            <a:pPr lvl="2"/>
            <a:r>
              <a:rPr lang="en-US" dirty="0"/>
              <a:t>Operational cost . This includes the day  to  day expenses of the bakery such as purchase of raw materials .</a:t>
            </a:r>
          </a:p>
          <a:p>
            <a:pPr lvl="2"/>
            <a:r>
              <a:rPr lang="en-US" dirty="0"/>
              <a:t>Marketing and advertising  costs . His includes promotional  costs of products such as new  cake  flavors on the menu .</a:t>
            </a:r>
          </a:p>
          <a:p>
            <a:pPr lvl="2"/>
            <a:endParaRPr lang="en-US" dirty="0"/>
          </a:p>
          <a:p>
            <a:pPr marL="457200" lvl="1" indent="0">
              <a:buNone/>
            </a:pPr>
            <a:endParaRPr lang="en-U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B814A8-6A9D-58D8-F110-1FD14BA25B1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lvl="1"/>
            <a:r>
              <a:rPr lang="en-US" dirty="0"/>
              <a:t>Intangible cost </a:t>
            </a:r>
          </a:p>
          <a:p>
            <a:pPr lvl="2"/>
            <a:r>
              <a:rPr lang="en-US" dirty="0"/>
              <a:t>Resistance to change : staff members who are rigid to paper work may find it difficult to adopt to the digital system.</a:t>
            </a:r>
          </a:p>
          <a:p>
            <a:pPr lvl="2"/>
            <a:r>
              <a:rPr lang="en-US" dirty="0"/>
              <a:t>System dependency . Increased vulnerability of the bakery if the system goes down . Staff may struggle to fulfill orders or keep track of deliveries .</a:t>
            </a:r>
          </a:p>
          <a:p>
            <a:pPr lvl="2"/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100818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A583B-E757-84FE-99F7-8A79C7571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Issues </a:t>
            </a:r>
            <a:br>
              <a:rPr lang="en-US" dirty="0"/>
            </a:b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A6FD5-56B6-5926-CB0C-D1372985A94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Integrity and Input Issues </a:t>
            </a:r>
          </a:p>
          <a:p>
            <a:pPr lvl="1"/>
            <a:r>
              <a:rPr lang="en-US" dirty="0"/>
              <a:t>A database is only as good the information put into it . These may include;</a:t>
            </a:r>
          </a:p>
          <a:p>
            <a:pPr lvl="1"/>
            <a:r>
              <a:rPr lang="en-US" dirty="0"/>
              <a:t>Inconsistent data entry . One user may enter “ chocolate Cake “,while another one wants “ Choc. Cake(Large )”.This creates duplicate issues .</a:t>
            </a:r>
          </a:p>
          <a:p>
            <a:pPr lvl="1"/>
            <a:r>
              <a:rPr lang="en-US" dirty="0"/>
              <a:t>Inventory Lag : If  a baker uses 10kg of flour but forgets to staff stock log out , the system will show an incorrect balance , leading to a shortage during production .</a:t>
            </a:r>
            <a:endParaRPr lang="en-U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EBC7E1-181B-658B-0E2C-AD064DA379F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Operational and security and issues</a:t>
            </a:r>
          </a:p>
          <a:p>
            <a:pPr marL="457200" lvl="1" indent="0">
              <a:buNone/>
            </a:pPr>
            <a:r>
              <a:rPr lang="en-US" dirty="0"/>
              <a:t>. Dependency issues if  the system goes offline . The staff may lack a back up plan .If they don’t know the prices by heart , operations may grind to a halt .</a:t>
            </a:r>
          </a:p>
          <a:p>
            <a:pPr marL="457200" lvl="1" indent="0">
              <a:buNone/>
            </a:pPr>
            <a:r>
              <a:rPr lang="en-US" dirty="0"/>
              <a:t> </a:t>
            </a:r>
          </a:p>
          <a:p>
            <a:endParaRPr lang="en-US" dirty="0"/>
          </a:p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292114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9DB8C-D95F-E549-B939-687CABA6F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37550"/>
          </a:xfrm>
        </p:spPr>
        <p:txBody>
          <a:bodyPr>
            <a:normAutofit fontScale="90000"/>
          </a:bodyPr>
          <a:lstStyle/>
          <a:p>
            <a:r>
              <a:rPr lang="en-US" dirty="0"/>
              <a:t>Risk Assessment </a:t>
            </a:r>
            <a:br>
              <a:rPr lang="en-US" dirty="0"/>
            </a:br>
            <a:r>
              <a:rPr lang="en-US" dirty="0"/>
              <a:t>This involves identifying potentials threats to the data , the hardware and business operations, then evaluating the likelihood and impact of those threats .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C6A96-441D-F10E-E853-3F5533D2E0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4145703"/>
            <a:ext cx="5026572" cy="344952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Technical and Data Risks</a:t>
            </a:r>
          </a:p>
          <a:p>
            <a:pPr marL="457200" lvl="1" indent="0">
              <a:buNone/>
            </a:pPr>
            <a:r>
              <a:rPr lang="en-US" dirty="0"/>
              <a:t>.Data Loss . Data may lost incase if the system fails or shuts down </a:t>
            </a:r>
          </a:p>
          <a:p>
            <a:pPr marL="457200" lvl="1" indent="0">
              <a:buNone/>
            </a:pPr>
            <a:r>
              <a:rPr lang="en-US" dirty="0"/>
              <a:t>.</a:t>
            </a:r>
          </a:p>
          <a:p>
            <a:endParaRPr lang="en-U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754D3B-CF0F-2787-0D28-4530A65F58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7230" y="4145703"/>
            <a:ext cx="5181600" cy="4351338"/>
          </a:xfrm>
        </p:spPr>
        <p:txBody>
          <a:bodyPr/>
          <a:lstStyle/>
          <a:p>
            <a:pPr marL="457200" lvl="1" indent="0">
              <a:buNone/>
            </a:pPr>
            <a:r>
              <a:rPr lang="en-US" dirty="0"/>
              <a:t>Security and cyber risks</a:t>
            </a:r>
          </a:p>
          <a:p>
            <a:pPr marL="914400" lvl="2" indent="0">
              <a:buNone/>
            </a:pPr>
            <a:r>
              <a:rPr lang="en-US" dirty="0"/>
              <a:t>.Hazard : Hybrid Cyber –Threats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4089317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AAF72-BC95-83D0-5CE8-68D4246E4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Continued Risk Assessment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BE651-C5B4-BDC4-5575-79BB5EB51E8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dirty="0"/>
              <a:t>Operational Risks</a:t>
            </a:r>
          </a:p>
          <a:p>
            <a:pPr lvl="2"/>
            <a:r>
              <a:rPr lang="en-US" dirty="0"/>
              <a:t>Concurrency issues : If two members try to update stock of the last ingredient for example sugar at the exact time , the database must be able to handle that collision without crushing .</a:t>
            </a:r>
          </a:p>
          <a:p>
            <a:pPr lvl="2"/>
            <a:r>
              <a:rPr lang="en-US" dirty="0"/>
              <a:t>Recipe consistency : If a database update fails halfway through , you might end up with </a:t>
            </a:r>
            <a:r>
              <a:rPr lang="en-US" dirty="0" err="1"/>
              <a:t>jambled</a:t>
            </a:r>
            <a:r>
              <a:rPr lang="en-US" dirty="0"/>
              <a:t> data  where an ingredient is deleted from inventory but not added to production costs .</a:t>
            </a:r>
            <a:endParaRPr lang="en-U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147090-CC0D-FBBD-A66F-E5A163FA719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Security Risks (Data Protection)</a:t>
            </a:r>
          </a:p>
          <a:p>
            <a:r>
              <a:rPr lang="en-US" dirty="0"/>
              <a:t>This involve protecting sensitive information from internal and external threats.</a:t>
            </a:r>
          </a:p>
          <a:p>
            <a:pPr lvl="1"/>
            <a:r>
              <a:rPr lang="en-US" dirty="0"/>
              <a:t>Unauthorized access: A seasonal employee might accidentally see the bakery’s profit margins or change or proprietary recipe.</a:t>
            </a:r>
          </a:p>
          <a:p>
            <a:pPr lvl="1"/>
            <a:r>
              <a:rPr lang="en-US" dirty="0"/>
              <a:t>Payment Security : Storing credit card  information or bank account information directly in your database is a massive risk .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350328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F38496F-131D-FEDA-63D2-97335167E1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3480184"/>
              </p:ext>
            </p:extLst>
          </p:nvPr>
        </p:nvGraphicFramePr>
        <p:xfrm>
          <a:off x="693682" y="719665"/>
          <a:ext cx="10026868" cy="5334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6717">
                  <a:extLst>
                    <a:ext uri="{9D8B030D-6E8A-4147-A177-3AD203B41FA5}">
                      <a16:colId xmlns:a16="http://schemas.microsoft.com/office/drawing/2014/main" val="95237651"/>
                    </a:ext>
                  </a:extLst>
                </a:gridCol>
                <a:gridCol w="2506717">
                  <a:extLst>
                    <a:ext uri="{9D8B030D-6E8A-4147-A177-3AD203B41FA5}">
                      <a16:colId xmlns:a16="http://schemas.microsoft.com/office/drawing/2014/main" val="1604039105"/>
                    </a:ext>
                  </a:extLst>
                </a:gridCol>
                <a:gridCol w="2506717">
                  <a:extLst>
                    <a:ext uri="{9D8B030D-6E8A-4147-A177-3AD203B41FA5}">
                      <a16:colId xmlns:a16="http://schemas.microsoft.com/office/drawing/2014/main" val="3848962186"/>
                    </a:ext>
                  </a:extLst>
                </a:gridCol>
                <a:gridCol w="2506717">
                  <a:extLst>
                    <a:ext uri="{9D8B030D-6E8A-4147-A177-3AD203B41FA5}">
                      <a16:colId xmlns:a16="http://schemas.microsoft.com/office/drawing/2014/main" val="1300575237"/>
                    </a:ext>
                  </a:extLst>
                </a:gridCol>
              </a:tblGrid>
              <a:tr h="1333574">
                <a:tc>
                  <a:txBody>
                    <a:bodyPr/>
                    <a:lstStyle/>
                    <a:p>
                      <a:r>
                        <a:rPr lang="en-US" dirty="0"/>
                        <a:t>Risk 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Likelihood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Impact 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Mitigation Strategy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426955"/>
                  </a:ext>
                </a:extLst>
              </a:tr>
              <a:tr h="1333574">
                <a:tc>
                  <a:txBody>
                    <a:bodyPr/>
                    <a:lstStyle/>
                    <a:p>
                      <a:r>
                        <a:rPr lang="en-US" dirty="0"/>
                        <a:t>Hardware Failure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Moderate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 </a:t>
                      </a:r>
                      <a:r>
                        <a:rPr lang="en-US" dirty="0" err="1"/>
                        <a:t>fanless</a:t>
                      </a:r>
                      <a:r>
                        <a:rPr lang="en-US" dirty="0"/>
                        <a:t>  PCs or protective enclosures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532331"/>
                  </a:ext>
                </a:extLst>
              </a:tr>
              <a:tr h="1333574">
                <a:tc>
                  <a:txBody>
                    <a:bodyPr/>
                    <a:lstStyle/>
                    <a:p>
                      <a:r>
                        <a:rPr lang="en-US" dirty="0"/>
                        <a:t>Accidental Data Deletion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Moderate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Implement “ Soft Deletes “ and regular  backups.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6535112"/>
                  </a:ext>
                </a:extLst>
              </a:tr>
              <a:tr h="1333574">
                <a:tc>
                  <a:txBody>
                    <a:bodyPr/>
                    <a:lstStyle/>
                    <a:p>
                      <a:r>
                        <a:rPr lang="en-US" dirty="0"/>
                        <a:t>Cyber Attack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Very high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 strong passwords </a:t>
                      </a:r>
                    </a:p>
                    <a:p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2868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7705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B6906-4602-BFAD-F6CD-7E8B84565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conduct Risk Assessment 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2F898-5E29-BE4F-9894-0C8129A5F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 Assets : List what needs protecting  such as customer list, Secret Recipes , Inventory , Employees, Supplies.</a:t>
            </a:r>
          </a:p>
          <a:p>
            <a:r>
              <a:rPr lang="en-US" dirty="0"/>
              <a:t>Implement Controls : Set up firewalls, backups, and user </a:t>
            </a:r>
            <a:r>
              <a:rPr lang="en-US" dirty="0" err="1"/>
              <a:t>permissioons</a:t>
            </a:r>
            <a:r>
              <a:rPr lang="en-US" dirty="0"/>
              <a:t> to reduce the risks identified.</a:t>
            </a:r>
          </a:p>
          <a:p>
            <a:r>
              <a:rPr lang="en-US" dirty="0"/>
              <a:t>Analyze Impact : If the “Recipe “ table was deleted , how long would it take to recover .</a:t>
            </a:r>
          </a:p>
          <a:p>
            <a:r>
              <a:rPr lang="en-US" dirty="0"/>
              <a:t>Identify threats : What would or could go wrong ? Such as fire , human error, theft.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924967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CA052-607D-B9ED-0F06-4952377F3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20095-7E6E-A278-4A9D-6D25ABF6A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loss is unavoidable.</a:t>
            </a:r>
          </a:p>
          <a:p>
            <a:r>
              <a:rPr lang="en-US" dirty="0"/>
              <a:t>Semi skilled </a:t>
            </a:r>
            <a:r>
              <a:rPr lang="en-US" dirty="0" err="1"/>
              <a:t>labour</a:t>
            </a:r>
            <a:endParaRPr lang="en-US" dirty="0"/>
          </a:p>
          <a:p>
            <a:r>
              <a:rPr lang="en-US" dirty="0"/>
              <a:t>Technical Complexity.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328427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E554932-FE24-1F15-81F7-595A7B80B2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492576"/>
              </p:ext>
            </p:extLst>
          </p:nvPr>
        </p:nvGraphicFramePr>
        <p:xfrm>
          <a:off x="552450" y="1519766"/>
          <a:ext cx="10610850" cy="53382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6950">
                  <a:extLst>
                    <a:ext uri="{9D8B030D-6E8A-4147-A177-3AD203B41FA5}">
                      <a16:colId xmlns:a16="http://schemas.microsoft.com/office/drawing/2014/main" val="2957029703"/>
                    </a:ext>
                  </a:extLst>
                </a:gridCol>
                <a:gridCol w="3536950">
                  <a:extLst>
                    <a:ext uri="{9D8B030D-6E8A-4147-A177-3AD203B41FA5}">
                      <a16:colId xmlns:a16="http://schemas.microsoft.com/office/drawing/2014/main" val="1535524355"/>
                    </a:ext>
                  </a:extLst>
                </a:gridCol>
                <a:gridCol w="3536950">
                  <a:extLst>
                    <a:ext uri="{9D8B030D-6E8A-4147-A177-3AD203B41FA5}">
                      <a16:colId xmlns:a16="http://schemas.microsoft.com/office/drawing/2014/main" val="2031312482"/>
                    </a:ext>
                  </a:extLst>
                </a:gridCol>
              </a:tblGrid>
              <a:tr h="1334559">
                <a:tc>
                  <a:txBody>
                    <a:bodyPr/>
                    <a:lstStyle/>
                    <a:p>
                      <a:r>
                        <a:rPr lang="en-US" dirty="0"/>
                        <a:t>Limitation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Impact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5782776"/>
                  </a:ext>
                </a:extLst>
              </a:tr>
              <a:tr h="1334559">
                <a:tc>
                  <a:txBody>
                    <a:bodyPr/>
                    <a:lstStyle/>
                    <a:p>
                      <a:r>
                        <a:rPr lang="en-US" dirty="0"/>
                        <a:t>Environmental Vulnerability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Physical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 risk of hardware failure due to dust / heat 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9256608"/>
                  </a:ext>
                </a:extLst>
              </a:tr>
              <a:tr h="1334559">
                <a:tc>
                  <a:txBody>
                    <a:bodyPr/>
                    <a:lstStyle/>
                    <a:p>
                      <a:r>
                        <a:rPr lang="en-US" dirty="0"/>
                        <a:t>Data Entry Lag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Human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Inventory numbers are often “behind” real –time stock.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516680"/>
                  </a:ext>
                </a:extLst>
              </a:tr>
              <a:tr h="1334559">
                <a:tc>
                  <a:txBody>
                    <a:bodyPr/>
                    <a:lstStyle/>
                    <a:p>
                      <a:r>
                        <a:rPr lang="en-US" dirty="0"/>
                        <a:t>Complexity 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Operational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Requires ongoing technical skills</a:t>
                      </a:r>
                    </a:p>
                    <a:p>
                      <a:r>
                        <a:rPr lang="en-US" dirty="0"/>
                        <a:t>To manage and update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377382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CB45C83-8F48-E450-FF9A-CA6D5A76BEF8}"/>
              </a:ext>
            </a:extLst>
          </p:cNvPr>
          <p:cNvSpPr txBox="1"/>
          <p:nvPr/>
        </p:nvSpPr>
        <p:spPr>
          <a:xfrm>
            <a:off x="3371850" y="400050"/>
            <a:ext cx="5010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Summary of Limitations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51354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259DB-54B9-9F71-0F4D-1C56F1034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of entities 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3FD70-FEC5-3F9B-B852-8C2DD9701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Supplies</a:t>
            </a:r>
          </a:p>
          <a:p>
            <a:r>
              <a:rPr lang="en-US" dirty="0"/>
              <a:t> Inventory </a:t>
            </a:r>
          </a:p>
          <a:p>
            <a:r>
              <a:rPr lang="en-US" dirty="0"/>
              <a:t>Customer</a:t>
            </a:r>
          </a:p>
          <a:p>
            <a:r>
              <a:rPr lang="en-US" dirty="0"/>
              <a:t>Orders</a:t>
            </a:r>
          </a:p>
          <a:p>
            <a:r>
              <a:rPr lang="en-US" dirty="0"/>
              <a:t>Employee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8958197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FB874-30D5-B289-9DF9-B23140EEF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of entities and Attributes 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4815D-7214-C480-B67A-A2F1E45A8F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Supplies [ Supplier ID (primary key ) , Supplier name , Contact Person Name , Phone Number, Email Address , Physical Address , Payment Terms ].</a:t>
            </a:r>
          </a:p>
          <a:p>
            <a:r>
              <a:rPr lang="en-US" dirty="0"/>
              <a:t>Customers[ Customer ID (Primary key ), Full name, Email Address , Dietary Preferences ,].</a:t>
            </a:r>
          </a:p>
          <a:p>
            <a:r>
              <a:rPr lang="en-US" dirty="0"/>
              <a:t>Orders[ Order ID (Primary Key ), Order date , Customer ID ( Foreign key to link the buyer ) , Employee ID ( Foreign key to track who processed the sale ), Payment Status( such as Paid, Pending,  Refunded), Order type ( such as Take away , Custom cake Delivery) ].</a:t>
            </a:r>
          </a:p>
          <a:p>
            <a:r>
              <a:rPr lang="en-US" dirty="0"/>
              <a:t>Inventory [ Inventory ID(Primary key ), Item Name ( such as butter), Current quantity , Unit of measure , Expiry Date , Storage location ].</a:t>
            </a:r>
          </a:p>
          <a:p>
            <a:r>
              <a:rPr lang="en-US" dirty="0"/>
              <a:t>Employees[ Employee ID (Primary key), First name and last name , Role ( such as Pastry chef , Cashier, Head  Baker,  Contact number and email Address , Hire Date , Salary.]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5347624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59DE8-1173-9300-6ACD-03F39C4A7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Entity Relationship 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4C691-581E-876B-C00B-CCCB0D060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Customers and orders ( One to Many ) [ 1: N]</a:t>
            </a:r>
          </a:p>
          <a:p>
            <a:r>
              <a:rPr lang="en-US" dirty="0"/>
              <a:t>Employees and orders ( one to many ) [1: N]</a:t>
            </a:r>
          </a:p>
          <a:p>
            <a:r>
              <a:rPr lang="en-US" dirty="0"/>
              <a:t>Inventory and supplies ( many to many ) [M: N]</a:t>
            </a:r>
          </a:p>
          <a:p>
            <a:r>
              <a:rPr lang="en-US" dirty="0"/>
              <a:t>Orders and inventory (many to many ) [ M: N]</a:t>
            </a:r>
          </a:p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9503111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5436D68-918C-654E-9693-978987C326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5948799"/>
              </p:ext>
            </p:extLst>
          </p:nvPr>
        </p:nvGraphicFramePr>
        <p:xfrm>
          <a:off x="1162050" y="719666"/>
          <a:ext cx="8997948" cy="5985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9316">
                  <a:extLst>
                    <a:ext uri="{9D8B030D-6E8A-4147-A177-3AD203B41FA5}">
                      <a16:colId xmlns:a16="http://schemas.microsoft.com/office/drawing/2014/main" val="1533192661"/>
                    </a:ext>
                  </a:extLst>
                </a:gridCol>
                <a:gridCol w="2999316">
                  <a:extLst>
                    <a:ext uri="{9D8B030D-6E8A-4147-A177-3AD203B41FA5}">
                      <a16:colId xmlns:a16="http://schemas.microsoft.com/office/drawing/2014/main" val="3362746175"/>
                    </a:ext>
                  </a:extLst>
                </a:gridCol>
                <a:gridCol w="2999316">
                  <a:extLst>
                    <a:ext uri="{9D8B030D-6E8A-4147-A177-3AD203B41FA5}">
                      <a16:colId xmlns:a16="http://schemas.microsoft.com/office/drawing/2014/main" val="3090545058"/>
                    </a:ext>
                  </a:extLst>
                </a:gridCol>
              </a:tblGrid>
              <a:tr h="1197187">
                <a:tc>
                  <a:txBody>
                    <a:bodyPr/>
                    <a:lstStyle/>
                    <a:p>
                      <a:r>
                        <a:rPr lang="en-US" dirty="0"/>
                        <a:t>Relationship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 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3346746"/>
                  </a:ext>
                </a:extLst>
              </a:tr>
              <a:tr h="1197187">
                <a:tc>
                  <a:txBody>
                    <a:bodyPr/>
                    <a:lstStyle/>
                    <a:p>
                      <a:r>
                        <a:rPr lang="en-US" dirty="0"/>
                        <a:t>Customer to Order 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1: N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customer makes multiple </a:t>
                      </a:r>
                    </a:p>
                    <a:p>
                      <a:r>
                        <a:rPr lang="en-US" dirty="0"/>
                        <a:t>Purchases.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3723183"/>
                  </a:ext>
                </a:extLst>
              </a:tr>
              <a:tr h="1197187">
                <a:tc>
                  <a:txBody>
                    <a:bodyPr/>
                    <a:lstStyle/>
                    <a:p>
                      <a:r>
                        <a:rPr lang="en-US" dirty="0"/>
                        <a:t>Employee  to Order 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1:N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staff member handles many sales .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237389"/>
                  </a:ext>
                </a:extLst>
              </a:tr>
              <a:tr h="1197187">
                <a:tc>
                  <a:txBody>
                    <a:bodyPr/>
                    <a:lstStyle/>
                    <a:p>
                      <a:r>
                        <a:rPr lang="en-US" dirty="0"/>
                        <a:t>Supplier to Inventory 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M:N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Vendors supply multiple items ; items come from various vendors 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2853527"/>
                  </a:ext>
                </a:extLst>
              </a:tr>
              <a:tr h="1197187">
                <a:tc>
                  <a:txBody>
                    <a:bodyPr/>
                    <a:lstStyle/>
                    <a:p>
                      <a:r>
                        <a:rPr lang="en-US" dirty="0"/>
                        <a:t>Order  to Inventory 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M:N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Orders consists of many items ; items are part of many orders.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25947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B31ED24-AF0E-5F60-D16E-27FEFBF6D62C}"/>
              </a:ext>
            </a:extLst>
          </p:cNvPr>
          <p:cNvSpPr txBox="1"/>
          <p:nvPr/>
        </p:nvSpPr>
        <p:spPr>
          <a:xfrm>
            <a:off x="3086100" y="0"/>
            <a:ext cx="6419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Summary of Relationship Table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20434075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0AADD-B58E-568D-2485-FD10FEE5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Employee Database System Physical Design </a:t>
            </a:r>
            <a:endParaRPr lang="en-UG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241CB-1EEE-AEA3-23FA-D9B5AD99029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Table Employees </a:t>
            </a:r>
          </a:p>
          <a:p>
            <a:r>
              <a:rPr lang="en-US" dirty="0"/>
              <a:t>Employee ID (INT, Primary key, Auto _ increment</a:t>
            </a:r>
          </a:p>
          <a:p>
            <a:r>
              <a:rPr lang="en-US" dirty="0"/>
              <a:t>FirstName (VARCHAR(50),NOT NULL)</a:t>
            </a:r>
          </a:p>
          <a:p>
            <a:r>
              <a:rPr lang="en-US" dirty="0"/>
              <a:t>LastName (VARCHAR(100),Unique)</a:t>
            </a:r>
          </a:p>
          <a:p>
            <a:r>
              <a:rPr lang="en-US" dirty="0"/>
              <a:t>Hire Date(DATE )</a:t>
            </a:r>
          </a:p>
          <a:p>
            <a:r>
              <a:rPr lang="en-US" dirty="0"/>
              <a:t>Status (‘On Leave’)</a:t>
            </a:r>
          </a:p>
          <a:p>
            <a:r>
              <a:rPr lang="en-US" dirty="0"/>
              <a:t>Department ID (INT Foreign Key) </a:t>
            </a:r>
            <a:endParaRPr lang="en-U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7D3D11-0E5A-BBB2-0828-907593DBC17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Table Leave Records </a:t>
            </a:r>
          </a:p>
          <a:p>
            <a:r>
              <a:rPr lang="en-US" dirty="0"/>
              <a:t>Leave ID (INT, Primary Key Auto _ increment)</a:t>
            </a:r>
          </a:p>
          <a:p>
            <a:r>
              <a:rPr lang="en-US" dirty="0"/>
              <a:t>Employee ID ( INT , Foreign Key references Employees)</a:t>
            </a:r>
          </a:p>
          <a:p>
            <a:r>
              <a:rPr lang="en-US" dirty="0"/>
              <a:t>Leave Type (ENUM(‘Sick’, ‘Vacation ’ , ’Maternity’, ‘ ‘Unpaid ‘) )</a:t>
            </a:r>
          </a:p>
          <a:p>
            <a:r>
              <a:rPr lang="en-US" dirty="0"/>
              <a:t>Start  Date (DATE )</a:t>
            </a:r>
          </a:p>
          <a:p>
            <a:r>
              <a:rPr lang="en-US" dirty="0"/>
              <a:t>End Date(DATE) </a:t>
            </a:r>
          </a:p>
          <a:p>
            <a:r>
              <a:rPr lang="en-US" dirty="0"/>
              <a:t>Status (ENUM(‘ Pending’ , ‘Approved ‘, ‘Rejected’ ))</a:t>
            </a:r>
          </a:p>
        </p:txBody>
      </p:sp>
    </p:spTree>
    <p:extLst>
      <p:ext uri="{BB962C8B-B14F-4D97-AF65-F5344CB8AC3E}">
        <p14:creationId xmlns:p14="http://schemas.microsoft.com/office/powerpoint/2010/main" val="16250635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48E93-8C8A-9F95-F409-D80F0DC96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Design continued;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4AE2B-0089-D716-B7F9-3AC4B6B3BBA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Table Payroll </a:t>
            </a:r>
          </a:p>
          <a:p>
            <a:r>
              <a:rPr lang="en-US" dirty="0"/>
              <a:t>Pay roll ID (INT , Primary Key  Auto _ Increment )</a:t>
            </a:r>
          </a:p>
          <a:p>
            <a:r>
              <a:rPr lang="en-US" dirty="0"/>
              <a:t>Employee ID (INT, Foreign Key )</a:t>
            </a:r>
          </a:p>
          <a:p>
            <a:r>
              <a:rPr lang="en-US" dirty="0"/>
              <a:t> Pay Period  End Date  NOT NULL</a:t>
            </a:r>
          </a:p>
          <a:p>
            <a:endParaRPr lang="en-U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ED6A43-F793-93A1-AF9E-829E048ED68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Table Roles </a:t>
            </a:r>
          </a:p>
          <a:p>
            <a:r>
              <a:rPr lang="en-US" dirty="0"/>
              <a:t>Role ID INT Primary Key  Auto _ Increment </a:t>
            </a:r>
          </a:p>
          <a:p>
            <a:r>
              <a:rPr lang="en-US" dirty="0"/>
              <a:t>First Name VARCHAR(50) NOT NULL </a:t>
            </a:r>
          </a:p>
          <a:p>
            <a:r>
              <a:rPr lang="en-US" dirty="0"/>
              <a:t>Last Name VARCHAR(50) NOT NULL</a:t>
            </a:r>
          </a:p>
          <a:p>
            <a:r>
              <a:rPr lang="en-US" dirty="0"/>
              <a:t>Email Address VARCHAR(100) Unique </a:t>
            </a:r>
          </a:p>
          <a:p>
            <a:r>
              <a:rPr lang="en-US" dirty="0"/>
              <a:t>Hire Date (DATE) 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34977567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D4F37-6659-0CDE-B9CA-6D5105FCA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Personal Area of interest Employee database System . Entities and attributes</a:t>
            </a:r>
            <a:endParaRPr lang="en-UG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66213-208C-7895-98C5-F3B13F479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Roles [ Role ID (Primary key),Job title, Department, Sales]</a:t>
            </a:r>
          </a:p>
          <a:p>
            <a:r>
              <a:rPr lang="en-US" dirty="0"/>
              <a:t>Employees[ Employee ID (Primary key), First name , Last name , Role ID]</a:t>
            </a:r>
          </a:p>
          <a:p>
            <a:r>
              <a:rPr lang="en-US" dirty="0"/>
              <a:t>Payroll [ Payroll ID  (Primary key),Employee ID , Account Number, Bank name, Foreign key]</a:t>
            </a:r>
          </a:p>
          <a:p>
            <a:r>
              <a:rPr lang="en-US" dirty="0"/>
              <a:t>Leave Records [Leave ID , (Primary key), Start date, End date, Foreign key]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42651910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F3F77D5-0A12-E7D4-005D-7BA02FC2F5B5}"/>
              </a:ext>
            </a:extLst>
          </p:cNvPr>
          <p:cNvSpPr/>
          <p:nvPr/>
        </p:nvSpPr>
        <p:spPr>
          <a:xfrm>
            <a:off x="583323" y="898634"/>
            <a:ext cx="3878317" cy="16396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Role ID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Role Name </a:t>
            </a:r>
          </a:p>
          <a:p>
            <a:pPr algn="ctr"/>
            <a:r>
              <a:rPr lang="en-US" dirty="0"/>
              <a:t>Department</a:t>
            </a:r>
          </a:p>
          <a:p>
            <a:pPr algn="ctr"/>
            <a:r>
              <a:rPr lang="en-US" dirty="0" err="1"/>
              <a:t>BaseSalary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E5009B-7DA4-20CD-A285-F45C9522E27E}"/>
              </a:ext>
            </a:extLst>
          </p:cNvPr>
          <p:cNvSpPr/>
          <p:nvPr/>
        </p:nvSpPr>
        <p:spPr>
          <a:xfrm>
            <a:off x="1324303" y="236483"/>
            <a:ext cx="2380594" cy="5044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Roles</a:t>
            </a:r>
            <a:endParaRPr lang="en-UG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C3EDCD-34FF-F3CC-1918-05F4E5DDE687}"/>
              </a:ext>
            </a:extLst>
          </p:cNvPr>
          <p:cNvSpPr/>
          <p:nvPr/>
        </p:nvSpPr>
        <p:spPr>
          <a:xfrm>
            <a:off x="5628290" y="126124"/>
            <a:ext cx="2380594" cy="6148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Employees</a:t>
            </a:r>
            <a:endParaRPr lang="en-UG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90A51C-0BB7-78DA-1263-BE23D3E6E837}"/>
              </a:ext>
            </a:extLst>
          </p:cNvPr>
          <p:cNvSpPr/>
          <p:nvPr/>
        </p:nvSpPr>
        <p:spPr>
          <a:xfrm>
            <a:off x="10168759" y="126124"/>
            <a:ext cx="1907627" cy="6148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Payroll</a:t>
            </a:r>
            <a:endParaRPr lang="en-UG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38F7050-92CD-3C3D-F959-EB2891FEC52B}"/>
              </a:ext>
            </a:extLst>
          </p:cNvPr>
          <p:cNvCxnSpPr/>
          <p:nvPr/>
        </p:nvCxnSpPr>
        <p:spPr>
          <a:xfrm flipH="1">
            <a:off x="4572000" y="1072055"/>
            <a:ext cx="7409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3524CAA-0025-6682-CE2A-C8D0EABFB424}"/>
              </a:ext>
            </a:extLst>
          </p:cNvPr>
          <p:cNvSpPr/>
          <p:nvPr/>
        </p:nvSpPr>
        <p:spPr>
          <a:xfrm>
            <a:off x="5880538" y="740979"/>
            <a:ext cx="1734207" cy="3310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Role ID (FK)</a:t>
            </a:r>
            <a:endParaRPr lang="en-UG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324176B-5306-A41B-EF26-64B6EB4E7438}"/>
              </a:ext>
            </a:extLst>
          </p:cNvPr>
          <p:cNvSpPr/>
          <p:nvPr/>
        </p:nvSpPr>
        <p:spPr>
          <a:xfrm>
            <a:off x="5880538" y="1355834"/>
            <a:ext cx="1529255" cy="20731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First Name</a:t>
            </a:r>
          </a:p>
          <a:p>
            <a:pPr algn="ctr"/>
            <a:r>
              <a:rPr lang="en-US" dirty="0"/>
              <a:t>Last Name</a:t>
            </a:r>
          </a:p>
          <a:p>
            <a:pPr algn="ctr"/>
            <a:r>
              <a:rPr lang="en-US" dirty="0"/>
              <a:t>Hire Date</a:t>
            </a:r>
          </a:p>
          <a:p>
            <a:pPr algn="ctr"/>
            <a:r>
              <a:rPr lang="en-US" dirty="0"/>
              <a:t>Role ID (FK)</a:t>
            </a:r>
            <a:endParaRPr lang="en-UG" dirty="0"/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50C5D6CC-E80C-159D-8CEF-2AEA4A43BB75}"/>
              </a:ext>
            </a:extLst>
          </p:cNvPr>
          <p:cNvCxnSpPr>
            <a:cxnSpLocks/>
          </p:cNvCxnSpPr>
          <p:nvPr/>
        </p:nvCxnSpPr>
        <p:spPr>
          <a:xfrm>
            <a:off x="6668814" y="3752193"/>
            <a:ext cx="2002220" cy="61485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E53BC2B-3D77-ADB1-6101-6FDA218989A6}"/>
              </a:ext>
            </a:extLst>
          </p:cNvPr>
          <p:cNvSpPr/>
          <p:nvPr/>
        </p:nvSpPr>
        <p:spPr>
          <a:xfrm>
            <a:off x="8844454" y="3752193"/>
            <a:ext cx="1749973" cy="6148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Leave RECORDS</a:t>
            </a:r>
            <a:endParaRPr lang="en-UG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7900215-8D6A-6B20-F750-F07803EB6D88}"/>
              </a:ext>
            </a:extLst>
          </p:cNvPr>
          <p:cNvSpPr/>
          <p:nvPr/>
        </p:nvSpPr>
        <p:spPr>
          <a:xfrm>
            <a:off x="9002110" y="4682359"/>
            <a:ext cx="2286000" cy="18760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Leave ID</a:t>
            </a:r>
          </a:p>
          <a:p>
            <a:pPr algn="ctr"/>
            <a:r>
              <a:rPr lang="en-US" dirty="0"/>
              <a:t>Employee ID (FK)</a:t>
            </a:r>
          </a:p>
          <a:p>
            <a:pPr algn="ctr"/>
            <a:r>
              <a:rPr lang="en-US" dirty="0"/>
              <a:t>Leave TYPE , Start Date, End Date, Status</a:t>
            </a:r>
            <a:endParaRPr lang="en-UG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F370589-3533-131E-8835-95F7C178D405}"/>
              </a:ext>
            </a:extLst>
          </p:cNvPr>
          <p:cNvCxnSpPr/>
          <p:nvPr/>
        </p:nvCxnSpPr>
        <p:spPr>
          <a:xfrm>
            <a:off x="8339959" y="898634"/>
            <a:ext cx="12139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05AC82C-5C28-7AA4-1656-3C00085E795F}"/>
              </a:ext>
            </a:extLst>
          </p:cNvPr>
          <p:cNvSpPr/>
          <p:nvPr/>
        </p:nvSpPr>
        <p:spPr>
          <a:xfrm>
            <a:off x="9979571" y="740979"/>
            <a:ext cx="1907627" cy="4414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Pay Roll ID </a:t>
            </a:r>
            <a:endParaRPr lang="en-UG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4678638-D255-32D6-EAFC-71D8E4AC82E5}"/>
              </a:ext>
            </a:extLst>
          </p:cNvPr>
          <p:cNvCxnSpPr>
            <a:cxnSpLocks/>
          </p:cNvCxnSpPr>
          <p:nvPr/>
        </p:nvCxnSpPr>
        <p:spPr>
          <a:xfrm>
            <a:off x="7614745" y="2002221"/>
            <a:ext cx="193915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5164207B-056C-EEDF-7475-433AD8D3777E}"/>
              </a:ext>
            </a:extLst>
          </p:cNvPr>
          <p:cNvSpPr/>
          <p:nvPr/>
        </p:nvSpPr>
        <p:spPr>
          <a:xfrm>
            <a:off x="9758855" y="1497720"/>
            <a:ext cx="2433145" cy="5202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Employee ID (FK)</a:t>
            </a:r>
            <a:endParaRPr lang="en-UG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89F0507-FFB2-88B6-3913-7BB27F0E9718}"/>
              </a:ext>
            </a:extLst>
          </p:cNvPr>
          <p:cNvSpPr/>
          <p:nvPr/>
        </p:nvSpPr>
        <p:spPr>
          <a:xfrm>
            <a:off x="9979571" y="2364828"/>
            <a:ext cx="2212429" cy="6148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Account Number</a:t>
            </a:r>
            <a:endParaRPr lang="en-UG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77BEF8-76EB-6B89-7DE0-85549C1FEB70}"/>
              </a:ext>
            </a:extLst>
          </p:cNvPr>
          <p:cNvSpPr txBox="1"/>
          <p:nvPr/>
        </p:nvSpPr>
        <p:spPr>
          <a:xfrm>
            <a:off x="583323" y="4682359"/>
            <a:ext cx="4508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ERD for my Employee database system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3940974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870505D-3B92-7603-592B-F5CD4DAC8B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3121594"/>
              </p:ext>
            </p:extLst>
          </p:nvPr>
        </p:nvGraphicFramePr>
        <p:xfrm>
          <a:off x="2032000" y="719666"/>
          <a:ext cx="9398000" cy="4750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9500">
                  <a:extLst>
                    <a:ext uri="{9D8B030D-6E8A-4147-A177-3AD203B41FA5}">
                      <a16:colId xmlns:a16="http://schemas.microsoft.com/office/drawing/2014/main" val="2963286802"/>
                    </a:ext>
                  </a:extLst>
                </a:gridCol>
                <a:gridCol w="2349500">
                  <a:extLst>
                    <a:ext uri="{9D8B030D-6E8A-4147-A177-3AD203B41FA5}">
                      <a16:colId xmlns:a16="http://schemas.microsoft.com/office/drawing/2014/main" val="155618200"/>
                    </a:ext>
                  </a:extLst>
                </a:gridCol>
                <a:gridCol w="2349500">
                  <a:extLst>
                    <a:ext uri="{9D8B030D-6E8A-4147-A177-3AD203B41FA5}">
                      <a16:colId xmlns:a16="http://schemas.microsoft.com/office/drawing/2014/main" val="496446065"/>
                    </a:ext>
                  </a:extLst>
                </a:gridCol>
                <a:gridCol w="2349500">
                  <a:extLst>
                    <a:ext uri="{9D8B030D-6E8A-4147-A177-3AD203B41FA5}">
                      <a16:colId xmlns:a16="http://schemas.microsoft.com/office/drawing/2014/main" val="4287255456"/>
                    </a:ext>
                  </a:extLst>
                </a:gridCol>
              </a:tblGrid>
              <a:tr h="1187742">
                <a:tc>
                  <a:txBody>
                    <a:bodyPr/>
                    <a:lstStyle/>
                    <a:p>
                      <a:r>
                        <a:rPr lang="en-US" dirty="0"/>
                        <a:t>From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Relationship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Meaning 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2784774"/>
                  </a:ext>
                </a:extLst>
              </a:tr>
              <a:tr h="1187742">
                <a:tc>
                  <a:txBody>
                    <a:bodyPr/>
                    <a:lstStyle/>
                    <a:p>
                      <a:r>
                        <a:rPr lang="en-US" dirty="0"/>
                        <a:t>Roles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Employees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One to many 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One to many employees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7256333"/>
                  </a:ext>
                </a:extLst>
              </a:tr>
              <a:tr h="1187742">
                <a:tc>
                  <a:txBody>
                    <a:bodyPr/>
                    <a:lstStyle/>
                    <a:p>
                      <a:r>
                        <a:rPr lang="en-US" dirty="0"/>
                        <a:t>Employees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Payroll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One to many 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One employees to many payroll records 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7865127"/>
                  </a:ext>
                </a:extLst>
              </a:tr>
              <a:tr h="1187742">
                <a:tc>
                  <a:txBody>
                    <a:bodyPr/>
                    <a:lstStyle/>
                    <a:p>
                      <a:r>
                        <a:rPr lang="en-US" dirty="0"/>
                        <a:t>Employees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Leave Record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One to many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One employee to many leave requests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357682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1C7D071-7FB4-FAC2-765B-3E6DAF4395C2}"/>
              </a:ext>
            </a:extLst>
          </p:cNvPr>
          <p:cNvSpPr txBox="1"/>
          <p:nvPr/>
        </p:nvSpPr>
        <p:spPr>
          <a:xfrm>
            <a:off x="3862552" y="195453"/>
            <a:ext cx="4698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Summary of the relationships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39423617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CC05C4-E713-E8E4-9388-14BCD8CB77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377"/>
            <a:ext cx="12192000" cy="6603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2066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FC2E1F-CC98-D013-83E3-661590AC12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594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8C30B9-D52E-0219-28FE-3F5A142060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6701"/>
            <a:ext cx="12192000" cy="6024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291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AC795-0247-D643-6A3C-6C1F93BB5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Description of queries and Reports . The key queries generated by this system include the following </a:t>
            </a:r>
            <a:endParaRPr lang="en-UG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1F78C-A0DB-F852-9B37-EB2C456D2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Described Employee</a:t>
            </a:r>
          </a:p>
          <a:p>
            <a:r>
              <a:rPr lang="en-US" dirty="0"/>
              <a:t>2. Showed tables in my system.</a:t>
            </a:r>
          </a:p>
          <a:p>
            <a:r>
              <a:rPr lang="en-US" dirty="0"/>
              <a:t>3. Created Table Roles [ role ID, Job title]</a:t>
            </a:r>
          </a:p>
          <a:p>
            <a:r>
              <a:rPr lang="en-US" dirty="0"/>
              <a:t>Selected * from Roles;</a:t>
            </a:r>
          </a:p>
          <a:p>
            <a:r>
              <a:rPr lang="en-US" dirty="0"/>
              <a:t>Showed Databases </a:t>
            </a:r>
          </a:p>
          <a:p>
            <a:r>
              <a:rPr lang="en-US" dirty="0"/>
              <a:t>Showed Tables</a:t>
            </a:r>
          </a:p>
          <a:p>
            <a:r>
              <a:rPr lang="en-US" dirty="0"/>
              <a:t>Showed that errors also existed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25019053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7F241-68DF-6DBC-67B7-82A25B2C7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9698" y="126124"/>
            <a:ext cx="9404723" cy="3421117"/>
          </a:xfrm>
        </p:spPr>
        <p:txBody>
          <a:bodyPr/>
          <a:lstStyle/>
          <a:p>
            <a:r>
              <a:rPr lang="en-US" sz="2400" dirty="0"/>
              <a:t>Inclusion the system shows that we can access and make payment to employees , know when  they are on leave .</a:t>
            </a:r>
            <a:endParaRPr lang="en-UG" sz="2400" dirty="0"/>
          </a:p>
        </p:txBody>
      </p:sp>
    </p:spTree>
    <p:extLst>
      <p:ext uri="{BB962C8B-B14F-4D97-AF65-F5344CB8AC3E}">
        <p14:creationId xmlns:p14="http://schemas.microsoft.com/office/powerpoint/2010/main" val="30355363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DATABASE PRESENTATION SLIDES</Template>
  <TotalTime>6</TotalTime>
  <Words>1780</Words>
  <Application>Microsoft Office PowerPoint</Application>
  <PresentationFormat>Widescreen</PresentationFormat>
  <Paragraphs>234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Century Gothic</vt:lpstr>
      <vt:lpstr>Wingdings 3</vt:lpstr>
      <vt:lpstr>Ion</vt:lpstr>
      <vt:lpstr>MBARARA UNIVERSITY OF SCIENCE AN D TECHNOLOGY  FACULY OF COMPUTING AND IN FORMATICS . BARCHELORS OF SCIENCE IN COMPUTERF SCIENCE</vt:lpstr>
      <vt:lpstr>BAKERY  DATABASE SYSTEM TABLE OF CONTENT. </vt:lpstr>
      <vt:lpstr>Executive Summary </vt:lpstr>
      <vt:lpstr>Database Project is for a bakery  Area of interest is Employee database system.</vt:lpstr>
      <vt:lpstr>Application Domain</vt:lpstr>
      <vt:lpstr>Analysis of cost </vt:lpstr>
      <vt:lpstr>User Issues  </vt:lpstr>
      <vt:lpstr>Risk Assessment  This involves identifying potentials threats to the data , the hardware and business operations, then evaluating the likelihood and impact of those threats .</vt:lpstr>
      <vt:lpstr>Continued Risk Assessment</vt:lpstr>
      <vt:lpstr>PowerPoint Presentation</vt:lpstr>
      <vt:lpstr>How to conduct Risk Assessment </vt:lpstr>
      <vt:lpstr>Limitations </vt:lpstr>
      <vt:lpstr>PowerPoint Presentation</vt:lpstr>
      <vt:lpstr>List of entities </vt:lpstr>
      <vt:lpstr>List of entities and Attributes </vt:lpstr>
      <vt:lpstr>Entity Relationship </vt:lpstr>
      <vt:lpstr>PowerPoint Presentation</vt:lpstr>
      <vt:lpstr>Employee Database System Physical Design </vt:lpstr>
      <vt:lpstr>Physical Design continued;</vt:lpstr>
      <vt:lpstr>Personal Area of interest Employee database System . Entities and attributes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Description of queries and Reports . The key queries generated by this system include the following </vt:lpstr>
      <vt:lpstr>Inclusion the system shows that we can access and make payment to employees , know when  they are on leave 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Agengo Anne Marie Casmiro</dc:creator>
  <cp:lastModifiedBy>Agengo Anne Marie Casmiro</cp:lastModifiedBy>
  <cp:revision>1</cp:revision>
  <dcterms:created xsi:type="dcterms:W3CDTF">2026-05-05T16:44:00Z</dcterms:created>
  <dcterms:modified xsi:type="dcterms:W3CDTF">2026-05-07T00:00:40Z</dcterms:modified>
</cp:coreProperties>
</file>